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7" r:id="rId11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9Heb8T9PFN6IECpROYOMxl7XS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624284-D24D-8513-B896-24ECC21962EE}" v="331" dt="2026-03-29T17:32:17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47132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6b99c9b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26b99c9b63f_0_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6b99c9b6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26b99c9b63f_0_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6b99c9b63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6b99c9b63f_0_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6b99c9b63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6b99c9b63f_0_2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6bb11d811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6bb11d8114_0_2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" TargetMode="External"/><Relationship Id="rId7" Type="http://schemas.openxmlformats.org/officeDocument/2006/relationships/hyperlink" Target="https://www.udemy.com" TargetMode="External"/><Relationship Id="rId2" Type="http://schemas.openxmlformats.org/officeDocument/2006/relationships/hyperlink" Target="https://react.de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ocker.com" TargetMode="External"/><Relationship Id="rId5" Type="http://schemas.openxmlformats.org/officeDocument/2006/relationships/hyperlink" Target="https://www.mongodb.com" TargetMode="External"/><Relationship Id="rId4" Type="http://schemas.openxmlformats.org/officeDocument/2006/relationships/hyperlink" Target="https://expressjs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 txBox="1">
            <a:spLocks noGrp="1"/>
          </p:cNvSpPr>
          <p:nvPr>
            <p:ph type="subTitle" idx="4294967295"/>
          </p:nvPr>
        </p:nvSpPr>
        <p:spPr>
          <a:xfrm>
            <a:off x="388307" y="1340285"/>
            <a:ext cx="8392437" cy="467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en-IN" sz="2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INTDE26MRGN001</a:t>
            </a:r>
            <a:endParaRPr lang="en-US" sz="2800" b="1">
              <a:solidFill>
                <a:schemeClr val="lt1"/>
              </a:solidFill>
              <a:latin typeface="Cambria"/>
              <a:ea typeface="Cambria"/>
              <a:cs typeface="Cambria"/>
            </a:endParaRPr>
          </a:p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en-IN" sz="2400" b="1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By</a:t>
            </a:r>
            <a:endParaRPr lang="en-US" sz="24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400" b="1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indent="0" algn="ctr">
              <a:spcBef>
                <a:spcPts val="560"/>
              </a:spcBef>
              <a:buSzPts val="2800"/>
              <a:buNone/>
            </a:pPr>
            <a:r>
              <a:rPr lang="en-IN" sz="26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Sushant Ambekar</a:t>
            </a:r>
            <a:r>
              <a:rPr lang="en-IN" sz="26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IN" sz="26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Roll No: 155</a:t>
            </a:r>
            <a:endParaRPr sz="26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200" b="1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Undertaken at</a:t>
            </a:r>
            <a:endParaRPr sz="2600" b="0" i="0" u="none" strike="noStrike" cap="non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indent="0" algn="ctr">
              <a:spcBef>
                <a:spcPts val="560"/>
              </a:spcBef>
              <a:buSzPts val="2800"/>
              <a:buNone/>
            </a:pPr>
            <a:r>
              <a:rPr lang="en-IN" sz="2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Cognizant Technology Solutions Corporation</a:t>
            </a:r>
            <a:endParaRPr lang="en-IN" sz="2800" b="1">
              <a:solidFill>
                <a:schemeClr val="lt1"/>
              </a:solidFill>
              <a:latin typeface="Cambria"/>
              <a:ea typeface="Cambria"/>
              <a:cs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Guide</a:t>
            </a:r>
            <a:endParaRPr sz="28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indent="0" algn="ctr">
              <a:spcBef>
                <a:spcPts val="560"/>
              </a:spcBef>
              <a:buSzPts val="2800"/>
              <a:buNone/>
            </a:pPr>
            <a:r>
              <a:rPr lang="en-IN" sz="16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Prof. Pratibha </a:t>
            </a:r>
            <a:r>
              <a:rPr lang="en-IN" sz="1600" b="1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Waghale</a:t>
            </a:r>
            <a:endParaRPr sz="2800" b="1" i="0" u="none" strike="noStrike" cap="none" dirty="0" err="1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"/>
          <p:cNvSpPr txBox="1">
            <a:spLocks noGrp="1"/>
          </p:cNvSpPr>
          <p:nvPr>
            <p:ph type="ctrTitle" idx="4294967295"/>
          </p:nvPr>
        </p:nvSpPr>
        <p:spPr>
          <a:xfrm>
            <a:off x="0" y="-1"/>
            <a:ext cx="9144000" cy="1202499"/>
          </a:xfrm>
          <a:prstGeom prst="rect">
            <a:avLst/>
          </a:prstGeom>
          <a:gradFill>
            <a:gsLst>
              <a:gs pos="0">
                <a:srgbClr val="7C7C7C"/>
              </a:gs>
              <a:gs pos="50000">
                <a:srgbClr val="B4B4B4"/>
              </a:gs>
              <a:gs pos="100000">
                <a:srgbClr val="D8D8D8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IN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b="1" i="0" u="none" strike="noStrike" cap="none" dirty="0" err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Yeshwantrao</a:t>
            </a: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sz="2400" b="1" i="0" u="none" strike="noStrike" cap="none" dirty="0" err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Chavan</a:t>
            </a: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college of Engineering, Nagpur</a:t>
            </a:r>
            <a:br>
              <a:rPr lang="en-IN" sz="2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of Computer Science &amp; Engineering</a:t>
            </a:r>
            <a:br>
              <a:rPr lang="en-IN" sz="20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Academic</a:t>
            </a:r>
            <a:r>
              <a:rPr lang="en-IN" sz="20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sz="20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Session 2025-26</a:t>
            </a:r>
            <a:br>
              <a:rPr lang="en-IN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221" y="189249"/>
            <a:ext cx="871855" cy="88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>
            <a:spLocks noGrp="1"/>
          </p:cNvSpPr>
          <p:nvPr>
            <p:ph type="ctrTitle" idx="4294967295"/>
          </p:nvPr>
        </p:nvSpPr>
        <p:spPr>
          <a:xfrm>
            <a:off x="0" y="0"/>
            <a:ext cx="9144000" cy="914400"/>
          </a:xfrm>
          <a:prstGeom prst="rect">
            <a:avLst/>
          </a:prstGeom>
          <a:gradFill>
            <a:gsLst>
              <a:gs pos="0">
                <a:srgbClr val="7C7C7C"/>
              </a:gs>
              <a:gs pos="50000">
                <a:srgbClr val="B4B4B4"/>
              </a:gs>
              <a:gs pos="100000">
                <a:srgbClr val="D8D8D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br>
              <a:rPr lang="en-IN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br>
              <a:rPr lang="en-IN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699225" y="1433300"/>
            <a:ext cx="80772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571500" lvl="0" indent="-571500">
              <a:lnSpc>
                <a:spcPct val="75000"/>
              </a:lnSpc>
              <a:spcBef>
                <a:spcPts val="1400"/>
              </a:spcBef>
              <a:buSzPts val="2800"/>
              <a:buFont typeface="Times New Roman"/>
              <a:buAutoNum type="arabicPeriod"/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571500" lvl="0" indent="-571500">
              <a:lnSpc>
                <a:spcPct val="75000"/>
              </a:lnSpc>
              <a:spcBef>
                <a:spcPts val="1400"/>
              </a:spcBef>
              <a:buSzPts val="2800"/>
              <a:buFont typeface="Times New Roman"/>
              <a:buAutoNum type="arabicPeriod"/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Objectives &amp; Scope</a:t>
            </a:r>
          </a:p>
          <a:p>
            <a:pPr marL="571500" lvl="0" indent="-571500">
              <a:lnSpc>
                <a:spcPct val="75000"/>
              </a:lnSpc>
              <a:spcBef>
                <a:spcPts val="1400"/>
              </a:spcBef>
              <a:buSzPts val="2800"/>
              <a:buFont typeface="Times New Roman"/>
              <a:buAutoNum type="arabicPeriod"/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marL="571500" lvl="0" indent="-571500">
              <a:lnSpc>
                <a:spcPct val="75000"/>
              </a:lnSpc>
              <a:spcBef>
                <a:spcPts val="1400"/>
              </a:spcBef>
              <a:buSzPts val="2800"/>
              <a:buFont typeface="Times New Roman"/>
              <a:buAutoNum type="arabicPeriod"/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Tools/Technologies Used</a:t>
            </a:r>
          </a:p>
          <a:p>
            <a:pPr marL="571500" lvl="0" indent="-571500">
              <a:lnSpc>
                <a:spcPct val="75000"/>
              </a:lnSpc>
              <a:spcBef>
                <a:spcPts val="1400"/>
              </a:spcBef>
              <a:buSzPts val="2800"/>
              <a:buFont typeface="Times New Roman"/>
              <a:buAutoNum type="arabicPeriod"/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Implementation &amp; Outcome</a:t>
            </a:r>
          </a:p>
          <a:p>
            <a:pPr marL="571500" lvl="0" indent="-571500">
              <a:lnSpc>
                <a:spcPct val="75000"/>
              </a:lnSpc>
              <a:spcBef>
                <a:spcPts val="1400"/>
              </a:spcBef>
              <a:buSzPts val="2800"/>
              <a:buFont typeface="Times New Roman"/>
              <a:buAutoNum type="arabicPeriod"/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Problems faced and how they were resolved</a:t>
            </a:r>
          </a:p>
          <a:p>
            <a:pPr marL="571500" lvl="0" indent="-571500">
              <a:lnSpc>
                <a:spcPct val="75000"/>
              </a:lnSpc>
              <a:spcBef>
                <a:spcPts val="1400"/>
              </a:spcBef>
              <a:buSzPts val="2800"/>
              <a:buFont typeface="Times New Roman"/>
              <a:buAutoNum type="arabicPeriod"/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Outcome of Internship</a:t>
            </a:r>
          </a:p>
          <a:p>
            <a:pPr marL="571500" lvl="0" indent="-571500">
              <a:lnSpc>
                <a:spcPct val="75000"/>
              </a:lnSpc>
              <a:spcBef>
                <a:spcPts val="1400"/>
              </a:spcBef>
              <a:buSzPts val="2800"/>
              <a:buFont typeface="Times New Roman"/>
              <a:buAutoNum type="arabicPeriod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References 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0" algn="l" rtl="0">
              <a:lnSpc>
                <a:spcPct val="7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6b99c9b63f_0_0"/>
          <p:cNvSpPr txBox="1">
            <a:spLocks noGrp="1"/>
          </p:cNvSpPr>
          <p:nvPr>
            <p:ph type="title"/>
          </p:nvPr>
        </p:nvSpPr>
        <p:spPr>
          <a:xfrm>
            <a:off x="457200" y="1083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500" lvl="0" indent="-571500">
              <a:lnSpc>
                <a:spcPct val="75000"/>
              </a:lnSpc>
              <a:spcBef>
                <a:spcPts val="1400"/>
              </a:spcBef>
            </a:pP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1. 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9B990-B9B9-1CB6-D401-1DE19DB3A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Modern web applications require scalable, reliable, and fast deployment pipelines along with efficient frontend and backend integration. Manual deployment methods are error‑prone and time‑consuming. </a:t>
            </a:r>
          </a:p>
          <a:p>
            <a:r>
              <a:rPr lang="en-US" sz="2800"/>
              <a:t>During the internship, the problem addressed was to develop a full‑stack MERN application and automate its deployment using DevOps practices to ensure smooth integration, testing, and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6b99c9b63f_0_5"/>
          <p:cNvSpPr txBox="1">
            <a:spLocks noGrp="1"/>
          </p:cNvSpPr>
          <p:nvPr>
            <p:ph type="title"/>
          </p:nvPr>
        </p:nvSpPr>
        <p:spPr>
          <a:xfrm>
            <a:off x="457200" y="637113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500" lvl="0" indent="-571500">
              <a:lnSpc>
                <a:spcPct val="75000"/>
              </a:lnSpc>
              <a:spcBef>
                <a:spcPts val="1400"/>
              </a:spcBef>
            </a:pPr>
            <a:r>
              <a:rPr lang="en-IN" sz="2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Objectives &amp; Scope</a:t>
            </a:r>
            <a:b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41" name="Google Shape;41;g26b99c9b63f_0_5"/>
          <p:cNvSpPr txBox="1">
            <a:spLocks noGrp="1"/>
          </p:cNvSpPr>
          <p:nvPr>
            <p:ph type="body" idx="1"/>
          </p:nvPr>
        </p:nvSpPr>
        <p:spPr>
          <a:xfrm>
            <a:off x="457200" y="1422925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300">
                <a:solidFill>
                  <a:schemeClr val="bg1"/>
                </a:solidFill>
                <a:highlight>
                  <a:srgbClr val="FFFFFF"/>
                </a:highlight>
              </a:rPr>
              <a:t>To learn core web technologies to build responsive and user‑friendly interfaces using HTML, CSS, and JavaScript.</a:t>
            </a:r>
            <a:endParaRPr lang="en-US" sz="2300">
              <a:solidFill>
                <a:schemeClr val="bg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300">
                <a:solidFill>
                  <a:schemeClr val="bg1"/>
                </a:solidFill>
                <a:highlight>
                  <a:srgbClr val="FFFFFF"/>
                </a:highlight>
              </a:rPr>
              <a:t>To develop single‑page applications using React with components, forms, routing, and state management.</a:t>
            </a:r>
            <a:endParaRPr lang="en-US" sz="2300" dirty="0">
              <a:solidFill>
                <a:schemeClr val="bg1"/>
              </a:solidFill>
              <a:highlight>
                <a:srgbClr val="FFFFFF"/>
              </a:highlight>
            </a:endParaRPr>
          </a:p>
          <a:p>
            <a:r>
              <a:rPr lang="en-US" sz="2300" dirty="0">
                <a:solidFill>
                  <a:schemeClr val="bg1"/>
                </a:solidFill>
                <a:highlight>
                  <a:srgbClr val="FFFFFF"/>
                </a:highlight>
              </a:rPr>
              <a:t>To build backend services using Node.js and Express, and perform CRUD operations using MongoDB.</a:t>
            </a:r>
          </a:p>
          <a:p>
            <a:r>
              <a:rPr lang="en-US" sz="2300">
                <a:solidFill>
                  <a:schemeClr val="bg1"/>
                </a:solidFill>
                <a:highlight>
                  <a:srgbClr val="FFFFFF"/>
                </a:highlight>
              </a:rPr>
              <a:t>To automate deployment using Git, Docker, and CI/CD pipelines to deploy MERN applications efficiently.</a:t>
            </a:r>
            <a:endParaRPr lang="en-US" sz="2300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6b99c9b63f_0_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500" lvl="0" indent="-571500">
              <a:lnSpc>
                <a:spcPct val="75000"/>
              </a:lnSpc>
              <a:spcBef>
                <a:spcPts val="1400"/>
              </a:spcBef>
            </a:pPr>
            <a:r>
              <a:rPr lang="en-IN" sz="3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GB" sz="3200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sp>
        <p:nvSpPr>
          <p:cNvPr id="47" name="Google Shape;47;g26b99c9b63f_0_12"/>
          <p:cNvSpPr txBox="1">
            <a:spLocks noGrp="1"/>
          </p:cNvSpPr>
          <p:nvPr>
            <p:ph type="body" idx="1"/>
          </p:nvPr>
        </p:nvSpPr>
        <p:spPr>
          <a:xfrm>
            <a:off x="255825" y="1600200"/>
            <a:ext cx="86133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250" dirty="0">
                <a:solidFill>
                  <a:schemeClr val="lt1"/>
                </a:solidFill>
                <a:highlight>
                  <a:srgbClr val="FFFFFF"/>
                </a:highlight>
              </a:rPr>
              <a:t>Followed Agile software development methodology.</a:t>
            </a:r>
            <a:endParaRPr lang="en-US" sz="2250" dirty="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114300" indent="0">
              <a:buNone/>
            </a:pPr>
            <a:endParaRPr lang="en-US" sz="2250" dirty="0">
              <a:solidFill>
                <a:schemeClr val="lt1"/>
              </a:solidFill>
              <a:highlight>
                <a:srgbClr val="FFFFFF"/>
              </a:highlight>
            </a:endParaRPr>
          </a:p>
          <a:p>
            <a:r>
              <a:rPr lang="en-US" sz="2250">
                <a:solidFill>
                  <a:schemeClr val="lt1"/>
                </a:solidFill>
                <a:highlight>
                  <a:srgbClr val="FFFFFF"/>
                </a:highlight>
              </a:rPr>
              <a:t>Requirement analysis and task breakdown.</a:t>
            </a:r>
            <a:endParaRPr lang="en-US" sz="22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250">
                <a:solidFill>
                  <a:schemeClr val="lt1"/>
                </a:solidFill>
                <a:highlight>
                  <a:srgbClr val="FFFFFF"/>
                </a:highlight>
              </a:rPr>
              <a:t>Full‑stack application development in iterations.</a:t>
            </a:r>
            <a:endParaRPr lang="en-US" sz="22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250">
                <a:solidFill>
                  <a:schemeClr val="lt1"/>
                </a:solidFill>
                <a:highlight>
                  <a:srgbClr val="FFFFFF"/>
                </a:highlight>
              </a:rPr>
              <a:t>API integration between frontend and backend</a:t>
            </a:r>
            <a:endParaRPr lang="en-US" sz="22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250">
                <a:solidFill>
                  <a:schemeClr val="lt1"/>
                </a:solidFill>
                <a:highlight>
                  <a:srgbClr val="FFFFFF"/>
                </a:highlight>
              </a:rPr>
              <a:t>CI/CD pipeline creation for automated deployment</a:t>
            </a:r>
            <a:endParaRPr lang="en-US" sz="22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250">
                <a:solidFill>
                  <a:schemeClr val="lt1"/>
                </a:solidFill>
                <a:highlight>
                  <a:srgbClr val="FFFFFF"/>
                </a:highlight>
              </a:rPr>
              <a:t>Testing and monitoring of deployed applications</a:t>
            </a:r>
            <a:endParaRPr lang="en-US" sz="2250">
              <a:solidFill>
                <a:schemeClr val="lt1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6b99c9b63f_0_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71500" lvl="0" indent="-571500">
              <a:lnSpc>
                <a:spcPct val="75000"/>
              </a:lnSpc>
              <a:spcBef>
                <a:spcPts val="1400"/>
              </a:spcBef>
            </a:pPr>
            <a:r>
              <a:rPr lang="en-IN" sz="3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GB" sz="2800" dirty="0">
                <a:latin typeface="Times New Roman"/>
                <a:ea typeface="Times New Roman"/>
                <a:cs typeface="Times New Roman"/>
                <a:sym typeface="Times New Roman"/>
              </a:rPr>
              <a:t>Tools/Technologies Used</a:t>
            </a:r>
          </a:p>
        </p:txBody>
      </p:sp>
      <p:sp>
        <p:nvSpPr>
          <p:cNvPr id="53" name="Google Shape;53;g26b99c9b63f_0_20"/>
          <p:cNvSpPr txBox="1">
            <a:spLocks noGrp="1"/>
          </p:cNvSpPr>
          <p:nvPr>
            <p:ph type="body" idx="1"/>
          </p:nvPr>
        </p:nvSpPr>
        <p:spPr>
          <a:xfrm>
            <a:off x="265678" y="1294743"/>
            <a:ext cx="86133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71475">
              <a:buClr>
                <a:schemeClr val="lt1"/>
              </a:buClr>
              <a:buSzPts val="2250"/>
            </a:pPr>
            <a:r>
              <a:rPr lang="en-US" sz="2250" dirty="0">
                <a:solidFill>
                  <a:schemeClr val="lt1"/>
                </a:solidFill>
                <a:highlight>
                  <a:srgbClr val="FFFFFF"/>
                </a:highlight>
              </a:rPr>
              <a:t>Development </a:t>
            </a:r>
            <a:endParaRPr lang="en-US" sz="22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SzPts val="2250"/>
            </a:pPr>
            <a:r>
              <a:rPr lang="en-US" sz="1850" dirty="0">
                <a:solidFill>
                  <a:schemeClr val="lt1"/>
                </a:solidFill>
                <a:highlight>
                  <a:srgbClr val="FFFFFF"/>
                </a:highlight>
              </a:rPr>
              <a:t>React.js </a:t>
            </a:r>
            <a:endParaRPr lang="en-US" sz="1850" dirty="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SzPts val="2250"/>
            </a:pPr>
            <a:r>
              <a:rPr lang="en-US" sz="1850">
                <a:solidFill>
                  <a:schemeClr val="lt1"/>
                </a:solidFill>
                <a:highlight>
                  <a:srgbClr val="FFFFFF"/>
                </a:highlight>
              </a:rPr>
              <a:t>Node.js </a:t>
            </a:r>
            <a:endParaRPr lang="en-US" sz="18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SzPts val="2250"/>
            </a:pPr>
            <a:r>
              <a:rPr lang="en-US" sz="1850">
                <a:solidFill>
                  <a:schemeClr val="lt1"/>
                </a:solidFill>
                <a:highlight>
                  <a:srgbClr val="FFFFFF"/>
                </a:highlight>
              </a:rPr>
              <a:t>Express.js </a:t>
            </a:r>
            <a:endParaRPr lang="en-US" sz="18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SzPts val="2250"/>
            </a:pPr>
            <a:r>
              <a:rPr lang="en-US" sz="1850">
                <a:solidFill>
                  <a:schemeClr val="lt1"/>
                </a:solidFill>
                <a:highlight>
                  <a:srgbClr val="FFFFFF"/>
                </a:highlight>
              </a:rPr>
              <a:t>MongoDB </a:t>
            </a:r>
            <a:endParaRPr lang="en-US" sz="18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indent="-371475">
              <a:buClr>
                <a:schemeClr val="lt1"/>
              </a:buClr>
              <a:buSzPts val="2250"/>
            </a:pPr>
            <a:r>
              <a:rPr lang="en-US" sz="2250" dirty="0">
                <a:solidFill>
                  <a:schemeClr val="lt1"/>
                </a:solidFill>
                <a:highlight>
                  <a:srgbClr val="FFFFFF"/>
                </a:highlight>
              </a:rPr>
              <a:t>DevOps &amp; Deployment </a:t>
            </a:r>
            <a:endParaRPr lang="en-US" sz="22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Clr>
                <a:schemeClr val="lt1"/>
              </a:buClr>
              <a:buSzPts val="2250"/>
            </a:pPr>
            <a:r>
              <a:rPr lang="en-US" sz="1850">
                <a:solidFill>
                  <a:schemeClr val="lt1"/>
                </a:solidFill>
                <a:highlight>
                  <a:srgbClr val="FFFFFF"/>
                </a:highlight>
              </a:rPr>
              <a:t>Git &amp; GitHub </a:t>
            </a:r>
            <a:endParaRPr lang="en-US" sz="18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Clr>
                <a:schemeClr val="lt1"/>
              </a:buClr>
              <a:buSzPts val="2250"/>
            </a:pPr>
            <a:r>
              <a:rPr lang="en-US" sz="1850">
                <a:solidFill>
                  <a:schemeClr val="lt1"/>
                </a:solidFill>
                <a:highlight>
                  <a:srgbClr val="FFFFFF"/>
                </a:highlight>
              </a:rPr>
              <a:t>Jenkins / GitHub Actions </a:t>
            </a:r>
            <a:r>
              <a:rPr lang="en-US" sz="1850" dirty="0">
                <a:solidFill>
                  <a:schemeClr val="lt1"/>
                </a:solidFill>
                <a:highlight>
                  <a:srgbClr val="FFFFFF"/>
                </a:highlight>
              </a:rPr>
              <a:t>(CI/CD) </a:t>
            </a:r>
            <a:endParaRPr lang="en-US" sz="18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Clr>
                <a:schemeClr val="lt1"/>
              </a:buClr>
              <a:buSzPts val="2250"/>
            </a:pPr>
            <a:r>
              <a:rPr lang="en-US" sz="1850">
                <a:solidFill>
                  <a:schemeClr val="lt1"/>
                </a:solidFill>
                <a:highlight>
                  <a:srgbClr val="FFFFFF"/>
                </a:highlight>
              </a:rPr>
              <a:t>Docker (containerization) </a:t>
            </a:r>
            <a:endParaRPr lang="en-US" sz="18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Clr>
                <a:schemeClr val="lt1"/>
              </a:buClr>
              <a:buSzPts val="2250"/>
            </a:pPr>
            <a:r>
              <a:rPr lang="en-US" sz="1850">
                <a:solidFill>
                  <a:schemeClr val="lt1"/>
                </a:solidFill>
                <a:highlight>
                  <a:srgbClr val="FFFFFF"/>
                </a:highlight>
              </a:rPr>
              <a:t>Cloud platforms (AWS / Azure)  </a:t>
            </a:r>
            <a:endParaRPr lang="en-US" sz="185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indent="-371475">
              <a:buClr>
                <a:schemeClr val="lt1"/>
              </a:buClr>
              <a:buSzPts val="2250"/>
            </a:pPr>
            <a:r>
              <a:rPr lang="en-US" sz="2250" dirty="0">
                <a:solidFill>
                  <a:schemeClr val="lt1"/>
                </a:solidFill>
                <a:highlight>
                  <a:srgbClr val="FFFFFF"/>
                </a:highlight>
              </a:rPr>
              <a:t>Other Tools </a:t>
            </a:r>
            <a:endParaRPr lang="en-US" sz="2250" dirty="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Clr>
                <a:schemeClr val="lt1"/>
              </a:buClr>
              <a:buSzPts val="2250"/>
            </a:pPr>
            <a:r>
              <a:rPr lang="en-US" sz="1850" dirty="0">
                <a:solidFill>
                  <a:schemeClr val="lt1"/>
                </a:solidFill>
                <a:highlight>
                  <a:srgbClr val="FFFFFF"/>
                </a:highlight>
              </a:rPr>
              <a:t>Visual Studio Code </a:t>
            </a:r>
            <a:endParaRPr lang="en-US" sz="1850" dirty="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Clr>
                <a:schemeClr val="lt1"/>
              </a:buClr>
              <a:buSzPts val="2250"/>
            </a:pPr>
            <a:r>
              <a:rPr lang="en-US" sz="1850" dirty="0">
                <a:solidFill>
                  <a:schemeClr val="lt1"/>
                </a:solidFill>
                <a:highlight>
                  <a:srgbClr val="FFFFFF"/>
                </a:highlight>
              </a:rPr>
              <a:t>Postman </a:t>
            </a:r>
            <a:endParaRPr lang="en-US" sz="1850" dirty="0">
              <a:solidFill>
                <a:schemeClr val="lt1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lvl="1">
              <a:buClr>
                <a:schemeClr val="lt1"/>
              </a:buClr>
              <a:buSzPts val="2250"/>
            </a:pPr>
            <a:r>
              <a:rPr lang="en-US" sz="1850" dirty="0" err="1">
                <a:solidFill>
                  <a:schemeClr val="lt1"/>
                </a:solidFill>
                <a:highlight>
                  <a:srgbClr val="FFFFFF"/>
                </a:highlight>
              </a:rPr>
              <a:t>npm</a:t>
            </a:r>
            <a:r>
              <a:rPr lang="en-US" sz="1850" dirty="0">
                <a:solidFill>
                  <a:schemeClr val="lt1"/>
                </a:solidFill>
                <a:highlight>
                  <a:srgbClr val="FFFFFF"/>
                </a:highlight>
              </a:rPr>
              <a:t> </a:t>
            </a:r>
            <a:endParaRPr sz="1850">
              <a:solidFill>
                <a:schemeClr val="lt1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bb11d8114_0_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algn="l">
              <a:lnSpc>
                <a:spcPct val="75000"/>
              </a:lnSpc>
              <a:spcBef>
                <a:spcPts val="1400"/>
              </a:spcBef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GB" sz="3200" dirty="0">
                <a:latin typeface="Times New Roman"/>
                <a:ea typeface="Times New Roman"/>
                <a:cs typeface="Times New Roman"/>
                <a:sym typeface="Times New Roman"/>
              </a:rPr>
              <a:t>Implementation &amp; Outcome</a:t>
            </a:r>
            <a:br>
              <a:rPr lang="en-GB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endParaRPr sz="3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g26bb11d8114_0_21"/>
          <p:cNvSpPr txBox="1">
            <a:spLocks noGrp="1"/>
          </p:cNvSpPr>
          <p:nvPr>
            <p:ph type="body" idx="1"/>
          </p:nvPr>
        </p:nvSpPr>
        <p:spPr>
          <a:xfrm>
            <a:off x="255825" y="1600200"/>
            <a:ext cx="86133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lt1"/>
              </a:buClr>
              <a:buSzPts val="2250"/>
            </a:pPr>
            <a:r>
              <a:rPr lang="en-US" b="1"/>
              <a:t>Implementation</a:t>
            </a:r>
            <a:endParaRPr lang="en-US" sz="1400"/>
          </a:p>
          <a:p>
            <a:pPr marL="114300" indent="0">
              <a:buClr>
                <a:schemeClr val="lt1"/>
              </a:buClr>
              <a:buSzPts val="2250"/>
              <a:buNone/>
            </a:pPr>
            <a:r>
              <a:rPr lang="en-US" sz="1400">
                <a:solidFill>
                  <a:schemeClr val="lt1"/>
                </a:solidFill>
                <a:highlight>
                  <a:srgbClr val="FFFFFF"/>
                </a:highlight>
                <a:latin typeface="Segoe UI"/>
                <a:cs typeface="Segoe UI"/>
              </a:rPr>
              <a:t>  </a:t>
            </a:r>
            <a:r>
              <a:rPr lang="en-US" sz="1600">
                <a:solidFill>
                  <a:schemeClr val="lt1"/>
                </a:solidFill>
                <a:highlight>
                  <a:srgbClr val="FFFFFF"/>
                </a:highlight>
                <a:latin typeface="Segoe UI"/>
                <a:cs typeface="Segoe UI"/>
              </a:rPr>
              <a:t>- Currently undergoing training to design and develop responsive web user interfaces using HTML5, CSS3, </a:t>
            </a:r>
            <a:r>
              <a:rPr lang="en-US" sz="1600" dirty="0">
                <a:solidFill>
                  <a:schemeClr val="lt1"/>
                </a:solidFill>
                <a:highlight>
                  <a:srgbClr val="FFFFFF"/>
                </a:highlight>
                <a:latin typeface="Segoe UI"/>
                <a:cs typeface="Segoe UI"/>
              </a:rPr>
              <a:t>and JavaScript, and building single‑page applications using Angular and React. </a:t>
            </a:r>
          </a:p>
          <a:p>
            <a:pPr marL="114300" indent="0">
              <a:buSzPts val="2250"/>
              <a:buNone/>
            </a:pPr>
            <a:r>
              <a:rPr lang="en-US" sz="1600">
                <a:solidFill>
                  <a:schemeClr val="lt1"/>
                </a:solidFill>
                <a:highlight>
                  <a:srgbClr val="FFFFFF"/>
                </a:highlight>
                <a:latin typeface="Segoe UI"/>
                <a:cs typeface="Segoe UI"/>
              </a:rPr>
              <a:t>  - Backend development using Node.js and Express is being implemented with MongoDB for CRUD operations. </a:t>
            </a:r>
            <a:endParaRPr lang="en-US" sz="1600" dirty="0">
              <a:solidFill>
                <a:schemeClr val="lt1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 marL="114300" indent="0">
              <a:buSzPts val="2250"/>
              <a:buNone/>
            </a:pPr>
            <a:r>
              <a:rPr lang="en-US" sz="1600">
                <a:solidFill>
                  <a:schemeClr val="lt1"/>
                </a:solidFill>
                <a:highlight>
                  <a:srgbClr val="FFFFFF"/>
                </a:highlight>
                <a:latin typeface="Segoe UI"/>
                <a:cs typeface="Segoe UI"/>
              </a:rPr>
              <a:t>  - DevOps practices such as Git‑based version control, Docker containerization, and CI/CD pipeline setup using Jenkins are also being learned and applied for application deployment.</a:t>
            </a:r>
            <a:endParaRPr lang="en-US" sz="1600">
              <a:solidFill>
                <a:schemeClr val="lt1"/>
              </a:solidFill>
            </a:endParaRPr>
          </a:p>
          <a:p>
            <a:pPr>
              <a:buClr>
                <a:schemeClr val="lt1"/>
              </a:buClr>
              <a:buSzPts val="2250"/>
            </a:pPr>
            <a:r>
              <a:rPr lang="en-US" b="1"/>
              <a:t>Outcome</a:t>
            </a:r>
            <a:endParaRPr lang="en-US" sz="1600"/>
          </a:p>
          <a:p>
            <a:pPr marL="114300" indent="0">
              <a:buClr>
                <a:schemeClr val="lt1"/>
              </a:buClr>
              <a:buSzPts val="2250"/>
              <a:buNone/>
            </a:pPr>
            <a:r>
              <a:rPr lang="en-US" sz="1600">
                <a:solidFill>
                  <a:schemeClr val="lt1"/>
                </a:solidFill>
                <a:highlight>
                  <a:srgbClr val="FFFFFF"/>
                </a:highlight>
                <a:latin typeface="Segoe UI"/>
                <a:cs typeface="Segoe UI"/>
              </a:rPr>
              <a:t>Upon completion, the training will enable the development of complete MERN stack </a:t>
            </a:r>
            <a:r>
              <a:rPr lang="en-US" sz="1600" dirty="0">
                <a:solidFill>
                  <a:schemeClr val="lt1"/>
                </a:solidFill>
                <a:highlight>
                  <a:srgbClr val="FFFFFF"/>
                </a:highlight>
                <a:latin typeface="Segoe UI"/>
                <a:cs typeface="Segoe UI"/>
              </a:rPr>
              <a:t>web applications with efficient frontend–backend integration, automated deployment pipelines, early error detection, and scalable deployment following industry‑standard DevOps practices.</a:t>
            </a:r>
            <a:endParaRPr lang="en-US" sz="1600" dirty="0">
              <a:solidFill>
                <a:schemeClr val="lt1"/>
              </a:solidFill>
            </a:endParaRPr>
          </a:p>
          <a:p>
            <a:pPr indent="-371475">
              <a:buClr>
                <a:schemeClr val="lt1"/>
              </a:buClr>
              <a:buSzPts val="2250"/>
            </a:pPr>
            <a:endParaRPr lang="en-US" sz="4000" dirty="0">
              <a:solidFill>
                <a:schemeClr val="lt1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Times New Roman" pitchFamily="18" charset="0"/>
                <a:cs typeface="Times New Roman" pitchFamily="18" charset="0"/>
              </a:rPr>
              <a:t>7. Outcome of Internship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400">
                <a:latin typeface="Segoe UI"/>
                <a:cs typeface="Segoe UI"/>
              </a:rPr>
              <a:t>Strong understanding of MERN stack development</a:t>
            </a:r>
            <a:endParaRPr lang="en-IN" sz="2400"/>
          </a:p>
          <a:p>
            <a:r>
              <a:rPr lang="en-IN" sz="2400">
                <a:latin typeface="Segoe UI"/>
                <a:cs typeface="Segoe UI"/>
              </a:rPr>
              <a:t>Gained practical knowledge of DevOps and CI/CD pipelines</a:t>
            </a:r>
            <a:endParaRPr lang="en-IN" sz="2400"/>
          </a:p>
          <a:p>
            <a:r>
              <a:rPr lang="en-IN" sz="2400">
                <a:latin typeface="Segoe UI"/>
                <a:cs typeface="Segoe UI"/>
              </a:rPr>
              <a:t>Learned containerization and cloud deployment</a:t>
            </a:r>
            <a:endParaRPr lang="en-IN" sz="2400"/>
          </a:p>
          <a:p>
            <a:r>
              <a:rPr lang="en-IN" sz="2400">
                <a:latin typeface="Segoe UI"/>
                <a:cs typeface="Segoe UI"/>
              </a:rPr>
              <a:t>Improved teamwork, debugging, and professional communication skills</a:t>
            </a:r>
            <a:endParaRPr lang="en-IN" sz="2400"/>
          </a:p>
          <a:p>
            <a:r>
              <a:rPr lang="en-IN" sz="2400">
                <a:latin typeface="Segoe UI"/>
                <a:cs typeface="Segoe UI"/>
              </a:rPr>
              <a:t>Exposure to real‑world enterprise application workflows</a:t>
            </a:r>
            <a:endParaRPr lang="en-IN" sz="2400"/>
          </a:p>
          <a:p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883668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sz="3600" dirty="0">
                <a:latin typeface="Times New Roman" pitchFamily="18" charset="0"/>
                <a:cs typeface="Times New Roman" pitchFamily="18" charset="0"/>
              </a:rPr>
              <a:t>8.References 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400" dirty="0">
                <a:latin typeface="Segoe UI"/>
                <a:cs typeface="Segoe UI"/>
                <a:hlinkClick r:id="rId2"/>
              </a:rPr>
              <a:t>https://react.dev</a:t>
            </a:r>
            <a:endParaRPr lang="en-IN" sz="2400"/>
          </a:p>
          <a:p>
            <a:r>
              <a:rPr lang="en-IN" sz="2400" dirty="0">
                <a:latin typeface="Segoe UI"/>
                <a:cs typeface="Segoe UI"/>
                <a:hlinkClick r:id="rId3"/>
              </a:rPr>
              <a:t>https://nodejs.org</a:t>
            </a:r>
            <a:endParaRPr lang="en-IN" sz="2400"/>
          </a:p>
          <a:p>
            <a:r>
              <a:rPr lang="en-IN" sz="2400" dirty="0">
                <a:latin typeface="Segoe UI"/>
                <a:cs typeface="Segoe UI"/>
                <a:hlinkClick r:id="rId4"/>
              </a:rPr>
              <a:t>https://expressjs.com</a:t>
            </a:r>
            <a:endParaRPr lang="en-IN" sz="2400"/>
          </a:p>
          <a:p>
            <a:r>
              <a:rPr lang="en-IN" sz="2400" dirty="0">
                <a:latin typeface="Segoe UI"/>
                <a:cs typeface="Segoe UI"/>
                <a:hlinkClick r:id="rId5"/>
              </a:rPr>
              <a:t>https://www.mongodb.com</a:t>
            </a:r>
            <a:endParaRPr lang="en-IN" sz="2400"/>
          </a:p>
          <a:p>
            <a:r>
              <a:rPr lang="en-IN" sz="2400" dirty="0">
                <a:latin typeface="Segoe UI"/>
                <a:cs typeface="Segoe UI"/>
                <a:hlinkClick r:id="rId6"/>
              </a:rPr>
              <a:t>https://www.docker.com</a:t>
            </a:r>
            <a:endParaRPr lang="en-IN" sz="2400"/>
          </a:p>
          <a:p>
            <a:r>
              <a:rPr lang="en-IN" sz="2400" dirty="0">
                <a:latin typeface="Segoe UI"/>
                <a:cs typeface="Segoe UI"/>
                <a:hlinkClick r:id="rId7"/>
              </a:rPr>
              <a:t>https://www.udemy.com</a:t>
            </a:r>
            <a:endParaRPr lang="en-IN" sz="2400" dirty="0">
              <a:latin typeface="Segoe UI"/>
              <a:cs typeface="Segoe UI"/>
            </a:endParaRPr>
          </a:p>
          <a:p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417327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FFFFFF"/>
      </a:dk1>
      <a:lt1>
        <a:srgbClr val="000000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70</Words>
  <Application>Microsoft Office PowerPoint</Application>
  <PresentationFormat>On-screen Show (4:3)</PresentationFormat>
  <Paragraphs>27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Yeshwantrao Chavan college of Engineering, Nagpur Department of Computer Science &amp; Engineering Academic Session 2025-26 </vt:lpstr>
      <vt:lpstr> Table of Contents </vt:lpstr>
      <vt:lpstr>1. Problem Statement</vt:lpstr>
      <vt:lpstr>2. Objectives &amp; Scope </vt:lpstr>
      <vt:lpstr>3. Methodology</vt:lpstr>
      <vt:lpstr>4. Tools/Technologies Used</vt:lpstr>
      <vt:lpstr>5. Implementation &amp; Outcome  </vt:lpstr>
      <vt:lpstr>7. Outcome of Internship </vt:lpstr>
      <vt:lpstr>8.References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Yeshwantrao Chavan college of Engineering, Nagpur Department of Computer Science &amp; Engineering Academic Session 2023-24</dc:title>
  <dc:creator>SUSHIL</dc:creator>
  <cp:lastModifiedBy>CSE</cp:lastModifiedBy>
  <cp:revision>147</cp:revision>
  <dcterms:modified xsi:type="dcterms:W3CDTF">2026-03-29T17:32:18Z</dcterms:modified>
</cp:coreProperties>
</file>